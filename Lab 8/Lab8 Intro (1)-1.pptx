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85" r:id="rId2"/>
    <p:sldId id="298" r:id="rId3"/>
    <p:sldId id="296" r:id="rId4"/>
    <p:sldId id="297" r:id="rId5"/>
    <p:sldId id="28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F16FB11-394C-4FB3-B65B-51C1E759DD0E}">
          <p14:sldIdLst>
            <p14:sldId id="285"/>
            <p14:sldId id="298"/>
            <p14:sldId id="296"/>
            <p14:sldId id="297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5"/>
  </p:normalViewPr>
  <p:slideViewPr>
    <p:cSldViewPr snapToGrid="0">
      <p:cViewPr varScale="1">
        <p:scale>
          <a:sx n="113" d="100"/>
          <a:sy n="113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5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5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6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5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7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1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3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8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2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2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91AD-CA59-4A1E-BEE8-8812355C295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A7F50-1118-46F0-9E67-4EAAA240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36EDB-45DD-49C2-8B88-E8FEAFE0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51"/>
            <a:ext cx="10515600" cy="823595"/>
          </a:xfrm>
        </p:spPr>
        <p:txBody>
          <a:bodyPr/>
          <a:lstStyle/>
          <a:p>
            <a:r>
              <a:rPr lang="en-US" dirty="0"/>
              <a:t>Plan for rest of the semester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72281-6CBB-4BBD-9720-2C2AEBA53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9446"/>
            <a:ext cx="10515600" cy="5605621"/>
          </a:xfrm>
        </p:spPr>
        <p:txBody>
          <a:bodyPr>
            <a:normAutofit/>
          </a:bodyPr>
          <a:lstStyle/>
          <a:p>
            <a:r>
              <a:rPr lang="en-US" dirty="0"/>
              <a:t>This week Lab 8: last lab</a:t>
            </a:r>
          </a:p>
          <a:p>
            <a:pPr lvl="1"/>
            <a:r>
              <a:rPr lang="en-US" dirty="0"/>
              <a:t>Due week after (week of Nov 10</a:t>
            </a:r>
            <a:r>
              <a:rPr lang="en-US" baseline="30000" dirty="0"/>
              <a:t>th</a:t>
            </a:r>
            <a:r>
              <a:rPr lang="en-US" dirty="0"/>
              <a:t> )</a:t>
            </a:r>
          </a:p>
          <a:p>
            <a:r>
              <a:rPr lang="en-US" dirty="0"/>
              <a:t>Weeks of Nov 17</a:t>
            </a:r>
            <a:r>
              <a:rPr lang="en-US" baseline="30000" dirty="0"/>
              <a:t>th</a:t>
            </a:r>
            <a:r>
              <a:rPr lang="en-US" dirty="0"/>
              <a:t> and Dec 1</a:t>
            </a:r>
            <a:r>
              <a:rPr lang="en-US" baseline="30000" dirty="0"/>
              <a:t>st</a:t>
            </a:r>
            <a:r>
              <a:rPr lang="en-US" dirty="0"/>
              <a:t>: Final project</a:t>
            </a:r>
          </a:p>
          <a:p>
            <a:pPr lvl="1"/>
            <a:r>
              <a:rPr lang="en-US" dirty="0"/>
              <a:t>Run your own experiments using any equipment from the semester + more options</a:t>
            </a:r>
          </a:p>
          <a:p>
            <a:pPr lvl="1"/>
            <a:r>
              <a:rPr lang="en-US" dirty="0"/>
              <a:t>More information on Canvas</a:t>
            </a:r>
          </a:p>
          <a:p>
            <a:pPr lvl="1"/>
            <a:r>
              <a:rPr lang="en-US" dirty="0"/>
              <a:t>Individual assignment in the form of a digital poster</a:t>
            </a:r>
          </a:p>
          <a:p>
            <a:pPr lvl="1"/>
            <a:r>
              <a:rPr lang="en-US" b="1" dirty="0"/>
              <a:t>Due Dec 8</a:t>
            </a:r>
            <a:r>
              <a:rPr lang="en-US" b="1" baseline="30000" dirty="0"/>
              <a:t>th</a:t>
            </a:r>
            <a:r>
              <a:rPr lang="en-US" b="1" dirty="0"/>
              <a:t> </a:t>
            </a:r>
          </a:p>
          <a:p>
            <a:r>
              <a:rPr lang="en-US" dirty="0"/>
              <a:t>Weeks of Nov 17</a:t>
            </a:r>
            <a:r>
              <a:rPr lang="en-US" baseline="30000" dirty="0"/>
              <a:t>th</a:t>
            </a:r>
            <a:r>
              <a:rPr lang="en-US" dirty="0"/>
              <a:t> and Dec 1</a:t>
            </a:r>
            <a:r>
              <a:rPr lang="en-US" baseline="30000" dirty="0"/>
              <a:t>st 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If you need to make up labs, you can use this week for those</a:t>
            </a:r>
          </a:p>
          <a:p>
            <a:r>
              <a:rPr lang="en-US" dirty="0"/>
              <a:t>Lab resubmissions: Due Dec 8</a:t>
            </a:r>
            <a:r>
              <a:rPr lang="en-US" baseline="30000" dirty="0"/>
              <a:t>th</a:t>
            </a:r>
            <a:r>
              <a:rPr lang="en-US" dirty="0"/>
              <a:t> (same as Final Project)</a:t>
            </a:r>
          </a:p>
          <a:p>
            <a:pPr lvl="1"/>
            <a:r>
              <a:rPr lang="en-US" dirty="0"/>
              <a:t>Resubmit one of your assignments to receive ½ of the missed points back</a:t>
            </a:r>
          </a:p>
          <a:p>
            <a:pPr lvl="1"/>
            <a:r>
              <a:rPr lang="en-US" dirty="0"/>
              <a:t>If you need to collect more data, can do so during the makeup week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4D9CDD5-64BE-4AC9-9B9C-E8245B3EAD96}"/>
              </a:ext>
            </a:extLst>
          </p:cNvPr>
          <p:cNvSpPr txBox="1">
            <a:spLocks/>
          </p:cNvSpPr>
          <p:nvPr/>
        </p:nvSpPr>
        <p:spPr>
          <a:xfrm>
            <a:off x="990600" y="1041846"/>
            <a:ext cx="7613469" cy="5605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7513-795D-40B2-8776-D3750485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vs discrete</a:t>
            </a:r>
          </a:p>
        </p:txBody>
      </p:sp>
      <p:pic>
        <p:nvPicPr>
          <p:cNvPr id="2050" name="Picture 2" descr="S01 Discrete Line Spectrum - YouTube">
            <a:extLst>
              <a:ext uri="{FF2B5EF4-FFF2-40B4-BE49-F238E27FC236}">
                <a16:creationId xmlns:a16="http://schemas.microsoft.com/office/drawing/2014/main" id="{93E548BF-5D53-4CA0-A356-58CF1138D1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7" t="10865" b="10159"/>
          <a:stretch/>
        </p:blipFill>
        <p:spPr bwMode="auto">
          <a:xfrm>
            <a:off x="5757333" y="1690688"/>
            <a:ext cx="6324308" cy="4080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0926E227-F4A6-40D4-AF9F-F51BEA48AA2D}"/>
              </a:ext>
            </a:extLst>
          </p:cNvPr>
          <p:cNvSpPr txBox="1">
            <a:spLocks/>
          </p:cNvSpPr>
          <p:nvPr/>
        </p:nvSpPr>
        <p:spPr>
          <a:xfrm>
            <a:off x="247299" y="2141591"/>
            <a:ext cx="4944592" cy="4351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Hot solid emits continuous spectra (black body radiation)</a:t>
            </a:r>
          </a:p>
          <a:p>
            <a:r>
              <a:rPr lang="en-US" dirty="0"/>
              <a:t>Hot gas emits discrete emission spectra (quantum mechanics)</a:t>
            </a:r>
          </a:p>
          <a:p>
            <a:r>
              <a:rPr lang="en-US" dirty="0"/>
              <a:t>Cold gas with external light source will have absorption spectra</a:t>
            </a:r>
          </a:p>
        </p:txBody>
      </p:sp>
    </p:spTree>
    <p:extLst>
      <p:ext uri="{BB962C8B-B14F-4D97-AF65-F5344CB8AC3E}">
        <p14:creationId xmlns:p14="http://schemas.microsoft.com/office/powerpoint/2010/main" val="370478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36EDB-45DD-49C2-8B88-E8FEAFE0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585" y="-1841179"/>
            <a:ext cx="6438431" cy="534646"/>
          </a:xfrm>
        </p:spPr>
        <p:txBody>
          <a:bodyPr>
            <a:normAutofit fontScale="90000"/>
          </a:bodyPr>
          <a:lstStyle/>
          <a:p>
            <a:r>
              <a:rPr lang="en-US" dirty="0"/>
              <a:t>Derivation of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472281-6CBB-4BBD-9720-2C2AEBA53D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932" y="889447"/>
                <a:ext cx="4026031" cy="56056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Energy levels of hydrogen: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Energy of a photon with wavelength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Energy conservation from a photon emission: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472281-6CBB-4BBD-9720-2C2AEBA53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932" y="889447"/>
                <a:ext cx="4026031" cy="5605620"/>
              </a:xfrm>
              <a:blipFill>
                <a:blip r:embed="rId2"/>
                <a:stretch>
                  <a:fillRect l="-3026" t="-1850" r="-1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A332D3-E214-45F4-9C92-5E9E1464FCE1}"/>
                  </a:ext>
                </a:extLst>
              </p:cNvPr>
              <p:cNvSpPr txBox="1"/>
              <p:nvPr/>
            </p:nvSpPr>
            <p:spPr>
              <a:xfrm>
                <a:off x="7798039" y="1132759"/>
                <a:ext cx="5267383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A332D3-E214-45F4-9C92-5E9E1464F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039" y="1132759"/>
                <a:ext cx="5267383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8B087FB-4AFE-40E4-860F-7A1FABB90ADE}"/>
              </a:ext>
            </a:extLst>
          </p:cNvPr>
          <p:cNvSpPr/>
          <p:nvPr/>
        </p:nvSpPr>
        <p:spPr>
          <a:xfrm>
            <a:off x="8974155" y="1130451"/>
            <a:ext cx="2834612" cy="924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A1094F9-4C37-4F80-B25B-CBAFEC4089DB}"/>
              </a:ext>
            </a:extLst>
          </p:cNvPr>
          <p:cNvSpPr txBox="1">
            <a:spLocks/>
          </p:cNvSpPr>
          <p:nvPr/>
        </p:nvSpPr>
        <p:spPr>
          <a:xfrm>
            <a:off x="784192" y="2193313"/>
            <a:ext cx="4026031" cy="5605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8B6401F4-281C-4D70-8864-9B396D0642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51199" y="889446"/>
                <a:ext cx="4026031" cy="56056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8B6401F4-281C-4D70-8864-9B396D064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199" y="889446"/>
                <a:ext cx="4026031" cy="56056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01F65D-77A9-4844-B4EB-DB9D3D3E226A}"/>
                  </a:ext>
                </a:extLst>
              </p:cNvPr>
              <p:cNvSpPr txBox="1"/>
              <p:nvPr/>
            </p:nvSpPr>
            <p:spPr>
              <a:xfrm>
                <a:off x="9070346" y="2054935"/>
                <a:ext cx="26422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=1.09678×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are integers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01F65D-77A9-4844-B4EB-DB9D3D3E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346" y="2054935"/>
                <a:ext cx="2642230" cy="646331"/>
              </a:xfrm>
              <a:prstGeom prst="rect">
                <a:avLst/>
              </a:prstGeom>
              <a:blipFill>
                <a:blip r:embed="rId5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Wave nature of electron">
            <a:extLst>
              <a:ext uri="{FF2B5EF4-FFF2-40B4-BE49-F238E27FC236}">
                <a16:creationId xmlns:a16="http://schemas.microsoft.com/office/drawing/2014/main" id="{567C26B1-FFB3-40DE-BAA4-0576E1A31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963" y="3056467"/>
            <a:ext cx="4235762" cy="291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C23388C-A13C-47C4-81AD-AFC0EDA641DF}"/>
              </a:ext>
            </a:extLst>
          </p:cNvPr>
          <p:cNvSpPr txBox="1">
            <a:spLocks/>
          </p:cNvSpPr>
          <p:nvPr/>
        </p:nvSpPr>
        <p:spPr>
          <a:xfrm>
            <a:off x="838200" y="-1889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Derivation</a:t>
            </a:r>
          </a:p>
        </p:txBody>
      </p:sp>
    </p:spTree>
    <p:extLst>
      <p:ext uri="{BB962C8B-B14F-4D97-AF65-F5344CB8AC3E}">
        <p14:creationId xmlns:p14="http://schemas.microsoft.com/office/powerpoint/2010/main" val="127665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36EDB-45DD-49C2-8B88-E8FEAFE0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51"/>
            <a:ext cx="10515600" cy="823595"/>
          </a:xfrm>
        </p:spPr>
        <p:txBody>
          <a:bodyPr/>
          <a:lstStyle/>
          <a:p>
            <a:r>
              <a:rPr lang="en-US" dirty="0"/>
              <a:t>Hydrogen emission spectrum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A1094F9-4C37-4F80-B25B-CBAFEC4089DB}"/>
              </a:ext>
            </a:extLst>
          </p:cNvPr>
          <p:cNvSpPr txBox="1">
            <a:spLocks/>
          </p:cNvSpPr>
          <p:nvPr/>
        </p:nvSpPr>
        <p:spPr>
          <a:xfrm>
            <a:off x="784192" y="2193313"/>
            <a:ext cx="4026031" cy="5605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BBC60C8-95CD-4BCC-8C57-0CB0D371C9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192" y="889446"/>
                <a:ext cx="10569608" cy="5287517"/>
              </a:xfrm>
            </p:spPr>
            <p:txBody>
              <a:bodyPr/>
              <a:lstStyle/>
              <a:p>
                <a:r>
                  <a:rPr lang="en-US" dirty="0"/>
                  <a:t>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, calculate possible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/>
                  <a:t> by plugging in different values of n, m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given in nm for Table</a:t>
                </a:r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dirty="0"/>
                  <a:t>Visible spectrum (400-750nm) emission lines:</a:t>
                </a:r>
              </a:p>
              <a:p>
                <a:pPr lvl="1"/>
                <a:r>
                  <a:rPr lang="en-US" dirty="0"/>
                  <a:t>410.29nm</a:t>
                </a:r>
              </a:p>
              <a:p>
                <a:pPr lvl="1"/>
                <a:r>
                  <a:rPr lang="en-US" dirty="0"/>
                  <a:t>434.17nm</a:t>
                </a:r>
              </a:p>
              <a:p>
                <a:pPr lvl="1"/>
                <a:r>
                  <a:rPr lang="en-US" dirty="0"/>
                  <a:t>486.27nm</a:t>
                </a:r>
              </a:p>
              <a:p>
                <a:pPr lvl="1"/>
                <a:r>
                  <a:rPr lang="en-US" dirty="0"/>
                  <a:t>656.47nm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BBC60C8-95CD-4BCC-8C57-0CB0D371C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192" y="889446"/>
                <a:ext cx="10569608" cy="5287517"/>
              </a:xfrm>
              <a:blipFill>
                <a:blip r:embed="rId3"/>
                <a:stretch>
                  <a:fillRect l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6EC3A3C-F2F3-4B9D-A75D-5266C3D07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269738"/>
              </p:ext>
            </p:extLst>
          </p:nvPr>
        </p:nvGraphicFramePr>
        <p:xfrm>
          <a:off x="4691575" y="1980629"/>
          <a:ext cx="490537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905386" imgH="1552716" progId="Excel.Sheet.12">
                  <p:embed/>
                </p:oleObj>
              </mc:Choice>
              <mc:Fallback>
                <p:oleObj name="Worksheet" r:id="rId4" imgW="4905386" imgH="15527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91575" y="1980629"/>
                        <a:ext cx="4905375" cy="155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96DBBC2-94FE-4677-8B87-6D95C344786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3696" b="10055"/>
          <a:stretch/>
        </p:blipFill>
        <p:spPr>
          <a:xfrm>
            <a:off x="4396965" y="4060783"/>
            <a:ext cx="5969628" cy="15525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5D6BCF-15E5-48A3-917D-334BE0681030}"/>
              </a:ext>
            </a:extLst>
          </p:cNvPr>
          <p:cNvSpPr txBox="1"/>
          <p:nvPr/>
        </p:nvSpPr>
        <p:spPr>
          <a:xfrm>
            <a:off x="229657" y="6515150"/>
            <a:ext cx="4957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https://physics.nist.gov/PhysRefData/Handbook/Tables/hydrogentable2.htm</a:t>
            </a:r>
          </a:p>
        </p:txBody>
      </p:sp>
    </p:spTree>
    <p:extLst>
      <p:ext uri="{BB962C8B-B14F-4D97-AF65-F5344CB8AC3E}">
        <p14:creationId xmlns:p14="http://schemas.microsoft.com/office/powerpoint/2010/main" val="367762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08EA-773B-4390-B7F7-E03158D6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414"/>
            <a:ext cx="10515600" cy="785495"/>
          </a:xfrm>
        </p:spPr>
        <p:txBody>
          <a:bodyPr/>
          <a:lstStyle/>
          <a:p>
            <a:r>
              <a:rPr lang="en-US" dirty="0"/>
              <a:t>Lab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3">
                <a:extLst>
                  <a:ext uri="{FF2B5EF4-FFF2-40B4-BE49-F238E27FC236}">
                    <a16:creationId xmlns:a16="http://schemas.microsoft.com/office/drawing/2014/main" id="{F7A5B830-6134-4A14-A825-AB7FBB6057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6614" y="860909"/>
                <a:ext cx="9829800" cy="5997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Part 1: Hydrogen Emission spectrum</a:t>
                </a:r>
              </a:p>
              <a:p>
                <a:pPr lvl="1"/>
                <a:r>
                  <a:rPr lang="en-US" dirty="0"/>
                  <a:t>Using PASCO Spectrometry and the spectrometer to take the spectrum of hydrogen</a:t>
                </a:r>
              </a:p>
              <a:p>
                <a:pPr lvl="1"/>
                <a:r>
                  <a:rPr lang="en-US" dirty="0"/>
                  <a:t>Do the emission lines match up with the calculated wavelengths? </a:t>
                </a:r>
              </a:p>
              <a:p>
                <a:r>
                  <a:rPr lang="en-US" dirty="0"/>
                  <a:t>Part 2: Options!</a:t>
                </a:r>
              </a:p>
              <a:p>
                <a:pPr lvl="1"/>
                <a:r>
                  <a:rPr lang="en-US" dirty="0"/>
                  <a:t>Intensity and dependence on distance(~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?)</a:t>
                </a:r>
              </a:p>
              <a:p>
                <a:pPr lvl="1"/>
                <a:r>
                  <a:rPr lang="en-US" dirty="0"/>
                  <a:t>How do color filters affect </a:t>
                </a:r>
                <a:r>
                  <a:rPr lang="en-US"/>
                  <a:t>the spectrum?</a:t>
                </a:r>
                <a:endParaRPr lang="en-US" dirty="0"/>
              </a:p>
              <a:p>
                <a:pPr lvl="1"/>
                <a:r>
                  <a:rPr lang="en-US" dirty="0"/>
                  <a:t>Others?</a:t>
                </a:r>
              </a:p>
              <a:p>
                <a:r>
                  <a:rPr lang="en-US" dirty="0"/>
                  <a:t>Safety</a:t>
                </a:r>
              </a:p>
              <a:p>
                <a:pPr lvl="1"/>
                <a:r>
                  <a:rPr lang="en-US" dirty="0"/>
                  <a:t>No drinks on the tables</a:t>
                </a:r>
              </a:p>
              <a:p>
                <a:pPr lvl="1"/>
                <a:r>
                  <a:rPr lang="en-US" dirty="0"/>
                  <a:t>Be gentle with the spectrometer cables, they are </a:t>
                </a:r>
                <a:r>
                  <a:rPr lang="en-US" dirty="0" err="1"/>
                  <a:t>fibre</a:t>
                </a:r>
                <a:r>
                  <a:rPr lang="en-US" dirty="0"/>
                  <a:t> optics and a bend in the cable breaks them</a:t>
                </a:r>
              </a:p>
              <a:p>
                <a:pPr lvl="1"/>
                <a:r>
                  <a:rPr lang="en-US" dirty="0"/>
                  <a:t>Delicate glass: be careful when handling the spectrum tubes</a:t>
                </a:r>
              </a:p>
              <a:p>
                <a:pPr lvl="1"/>
                <a:r>
                  <a:rPr lang="en-US" dirty="0"/>
                  <a:t>Be careful when the spectrum tubes are on, they heat up and use a high voltage to function</a:t>
                </a:r>
              </a:p>
            </p:txBody>
          </p:sp>
        </mc:Choice>
        <mc:Fallback xmlns="">
          <p:sp>
            <p:nvSpPr>
              <p:cNvPr id="4" name="Content Placeholder 13">
                <a:extLst>
                  <a:ext uri="{FF2B5EF4-FFF2-40B4-BE49-F238E27FC236}">
                    <a16:creationId xmlns:a16="http://schemas.microsoft.com/office/drawing/2014/main" id="{F7A5B830-6134-4A14-A825-AB7FBB605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14" y="860909"/>
                <a:ext cx="9829800" cy="5997091"/>
              </a:xfrm>
              <a:prstGeom prst="rect">
                <a:avLst/>
              </a:prstGeom>
              <a:blipFill>
                <a:blip r:embed="rId2"/>
                <a:stretch>
                  <a:fillRect l="-1116" t="-2236" r="-1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89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5392</TotalTime>
  <Words>401</Words>
  <Application>Microsoft Macintosh PowerPoint</Application>
  <PresentationFormat>Widescreen</PresentationFormat>
  <Paragraphs>65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Worksheet</vt:lpstr>
      <vt:lpstr>Plan for rest of the semester</vt:lpstr>
      <vt:lpstr>Continuous vs discrete</vt:lpstr>
      <vt:lpstr>Derivation of equation</vt:lpstr>
      <vt:lpstr>Hydrogen emission spectrum</vt:lpstr>
      <vt:lpstr>Lab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PHY117N: MW8-11am</dc:title>
  <dc:creator>Gregorio Ponti</dc:creator>
  <cp:lastModifiedBy>Soria, Ariana E</cp:lastModifiedBy>
  <cp:revision>57</cp:revision>
  <dcterms:created xsi:type="dcterms:W3CDTF">2020-07-13T00:25:21Z</dcterms:created>
  <dcterms:modified xsi:type="dcterms:W3CDTF">2025-11-07T15:24:14Z</dcterms:modified>
</cp:coreProperties>
</file>