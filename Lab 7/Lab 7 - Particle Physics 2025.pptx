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8"/>
  </p:notesMasterIdLst>
  <p:sldIdLst>
    <p:sldId id="256" r:id="rId2"/>
    <p:sldId id="262" r:id="rId3"/>
    <p:sldId id="296" r:id="rId4"/>
    <p:sldId id="297" r:id="rId5"/>
    <p:sldId id="287" r:id="rId6"/>
    <p:sldId id="29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DB269CE-AFE7-80A7-980C-E741289C7833}" name="Soria, Ariana E" initials="SA" userId="S::aes5873@my.utexas.edu::8b163bfa-4c77-4741-a148-ec55766122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 autoAdjust="0"/>
    <p:restoredTop sz="94638"/>
  </p:normalViewPr>
  <p:slideViewPr>
    <p:cSldViewPr snapToGrid="0">
      <p:cViewPr varScale="1">
        <p:scale>
          <a:sx n="96" d="100"/>
          <a:sy n="96" d="100"/>
        </p:scale>
        <p:origin x="18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B285D7-C0B1-407F-8F61-5FEAAD2E878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9D0285-54B0-4E93-83F5-9C9311B0588C}">
      <dgm:prSet/>
      <dgm:spPr/>
      <dgm:t>
        <a:bodyPr/>
        <a:lstStyle/>
        <a:p>
          <a:r>
            <a:rPr lang="en-US"/>
            <a:t>How do we study particles? </a:t>
          </a:r>
        </a:p>
      </dgm:t>
    </dgm:pt>
    <dgm:pt modelId="{1DDF7462-FC4B-499B-A708-273481EC3718}" type="parTrans" cxnId="{9C71566A-9B2E-4E04-A286-6088F11C093B}">
      <dgm:prSet/>
      <dgm:spPr/>
      <dgm:t>
        <a:bodyPr/>
        <a:lstStyle/>
        <a:p>
          <a:endParaRPr lang="en-US"/>
        </a:p>
      </dgm:t>
    </dgm:pt>
    <dgm:pt modelId="{C6B4946D-0134-4E90-8C77-14AF6C944722}" type="sibTrans" cxnId="{9C71566A-9B2E-4E04-A286-6088F11C093B}">
      <dgm:prSet/>
      <dgm:spPr/>
      <dgm:t>
        <a:bodyPr/>
        <a:lstStyle/>
        <a:p>
          <a:endParaRPr lang="en-US"/>
        </a:p>
      </dgm:t>
    </dgm:pt>
    <dgm:pt modelId="{4D0D2C4A-9C27-42DB-A757-D65600F5BAA1}">
      <dgm:prSet/>
      <dgm:spPr/>
      <dgm:t>
        <a:bodyPr/>
        <a:lstStyle/>
        <a:p>
          <a:r>
            <a:rPr lang="en-US"/>
            <a:t>One of the easiest ways to study a particle is to see how it moves in a magnetic or electric field</a:t>
          </a:r>
        </a:p>
      </dgm:t>
    </dgm:pt>
    <dgm:pt modelId="{B27FA013-5C03-47E5-998F-B7186B5AB9B6}" type="parTrans" cxnId="{DD349F1C-79D7-4BA6-B706-37833341291A}">
      <dgm:prSet/>
      <dgm:spPr/>
      <dgm:t>
        <a:bodyPr/>
        <a:lstStyle/>
        <a:p>
          <a:endParaRPr lang="en-US"/>
        </a:p>
      </dgm:t>
    </dgm:pt>
    <dgm:pt modelId="{EEE4F1BB-A826-4F6E-A9A5-1CD14FFFCD9A}" type="sibTrans" cxnId="{DD349F1C-79D7-4BA6-B706-37833341291A}">
      <dgm:prSet/>
      <dgm:spPr/>
      <dgm:t>
        <a:bodyPr/>
        <a:lstStyle/>
        <a:p>
          <a:endParaRPr lang="en-US"/>
        </a:p>
      </dgm:t>
    </dgm:pt>
    <dgm:pt modelId="{061543A4-70AC-439A-8D13-B957194CA7D4}">
      <dgm:prSet/>
      <dgm:spPr/>
      <dgm:t>
        <a:bodyPr/>
        <a:lstStyle/>
        <a:p>
          <a:r>
            <a:rPr lang="en-US" dirty="0"/>
            <a:t>We can use coils to create a uniform field -&gt; Helmholtz configuration </a:t>
          </a:r>
        </a:p>
      </dgm:t>
    </dgm:pt>
    <dgm:pt modelId="{9FC510D9-A536-4D74-8147-38B30C65E600}" type="parTrans" cxnId="{6AF0E2A5-4CCF-4B90-A071-3F58BD50AC91}">
      <dgm:prSet/>
      <dgm:spPr/>
      <dgm:t>
        <a:bodyPr/>
        <a:lstStyle/>
        <a:p>
          <a:endParaRPr lang="en-US"/>
        </a:p>
      </dgm:t>
    </dgm:pt>
    <dgm:pt modelId="{75C94986-8F49-4C8B-B551-3EBABFCB776C}" type="sibTrans" cxnId="{6AF0E2A5-4CCF-4B90-A071-3F58BD50AC91}">
      <dgm:prSet/>
      <dgm:spPr/>
      <dgm:t>
        <a:bodyPr/>
        <a:lstStyle/>
        <a:p>
          <a:endParaRPr lang="en-US"/>
        </a:p>
      </dgm:t>
    </dgm:pt>
    <dgm:pt modelId="{EF26C959-629B-9247-A5D0-94B0B3B517CC}" type="pres">
      <dgm:prSet presAssocID="{40B285D7-C0B1-407F-8F61-5FEAAD2E8780}" presName="outerComposite" presStyleCnt="0">
        <dgm:presLayoutVars>
          <dgm:chMax val="5"/>
          <dgm:dir/>
          <dgm:resizeHandles val="exact"/>
        </dgm:presLayoutVars>
      </dgm:prSet>
      <dgm:spPr/>
    </dgm:pt>
    <dgm:pt modelId="{5CAF8B65-C5C7-294C-B23A-E03FC983B965}" type="pres">
      <dgm:prSet presAssocID="{40B285D7-C0B1-407F-8F61-5FEAAD2E8780}" presName="dummyMaxCanvas" presStyleCnt="0">
        <dgm:presLayoutVars/>
      </dgm:prSet>
      <dgm:spPr/>
    </dgm:pt>
    <dgm:pt modelId="{7F5224B1-AF8F-7642-A4A1-D7D80044FFB4}" type="pres">
      <dgm:prSet presAssocID="{40B285D7-C0B1-407F-8F61-5FEAAD2E8780}" presName="ThreeNodes_1" presStyleLbl="node1" presStyleIdx="0" presStyleCnt="3">
        <dgm:presLayoutVars>
          <dgm:bulletEnabled val="1"/>
        </dgm:presLayoutVars>
      </dgm:prSet>
      <dgm:spPr/>
    </dgm:pt>
    <dgm:pt modelId="{C2B26C37-73AC-6149-A0B0-526F0DE35D68}" type="pres">
      <dgm:prSet presAssocID="{40B285D7-C0B1-407F-8F61-5FEAAD2E8780}" presName="ThreeNodes_2" presStyleLbl="node1" presStyleIdx="1" presStyleCnt="3">
        <dgm:presLayoutVars>
          <dgm:bulletEnabled val="1"/>
        </dgm:presLayoutVars>
      </dgm:prSet>
      <dgm:spPr/>
    </dgm:pt>
    <dgm:pt modelId="{9FDB8274-CC9F-864A-BFD8-8D870AA15E30}" type="pres">
      <dgm:prSet presAssocID="{40B285D7-C0B1-407F-8F61-5FEAAD2E8780}" presName="ThreeNodes_3" presStyleLbl="node1" presStyleIdx="2" presStyleCnt="3">
        <dgm:presLayoutVars>
          <dgm:bulletEnabled val="1"/>
        </dgm:presLayoutVars>
      </dgm:prSet>
      <dgm:spPr/>
    </dgm:pt>
    <dgm:pt modelId="{31C827AA-2B5B-6D41-B2C0-E1A1DA5E6299}" type="pres">
      <dgm:prSet presAssocID="{40B285D7-C0B1-407F-8F61-5FEAAD2E8780}" presName="ThreeConn_1-2" presStyleLbl="fgAccFollowNode1" presStyleIdx="0" presStyleCnt="2">
        <dgm:presLayoutVars>
          <dgm:bulletEnabled val="1"/>
        </dgm:presLayoutVars>
      </dgm:prSet>
      <dgm:spPr/>
    </dgm:pt>
    <dgm:pt modelId="{094CE4D5-9E06-F14F-9A8B-0E0313AA9A38}" type="pres">
      <dgm:prSet presAssocID="{40B285D7-C0B1-407F-8F61-5FEAAD2E8780}" presName="ThreeConn_2-3" presStyleLbl="fgAccFollowNode1" presStyleIdx="1" presStyleCnt="2">
        <dgm:presLayoutVars>
          <dgm:bulletEnabled val="1"/>
        </dgm:presLayoutVars>
      </dgm:prSet>
      <dgm:spPr/>
    </dgm:pt>
    <dgm:pt modelId="{A87418B1-127B-194F-A150-4794CAF3C4C5}" type="pres">
      <dgm:prSet presAssocID="{40B285D7-C0B1-407F-8F61-5FEAAD2E8780}" presName="ThreeNodes_1_text" presStyleLbl="node1" presStyleIdx="2" presStyleCnt="3">
        <dgm:presLayoutVars>
          <dgm:bulletEnabled val="1"/>
        </dgm:presLayoutVars>
      </dgm:prSet>
      <dgm:spPr/>
    </dgm:pt>
    <dgm:pt modelId="{525A40E5-AD70-EF4D-9FD9-147BEF46593C}" type="pres">
      <dgm:prSet presAssocID="{40B285D7-C0B1-407F-8F61-5FEAAD2E8780}" presName="ThreeNodes_2_text" presStyleLbl="node1" presStyleIdx="2" presStyleCnt="3">
        <dgm:presLayoutVars>
          <dgm:bulletEnabled val="1"/>
        </dgm:presLayoutVars>
      </dgm:prSet>
      <dgm:spPr/>
    </dgm:pt>
    <dgm:pt modelId="{87A0A550-0E5F-304C-84D8-20CCC50C3C09}" type="pres">
      <dgm:prSet presAssocID="{40B285D7-C0B1-407F-8F61-5FEAAD2E878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2500805-BBFC-C24D-A038-B43C601E6E89}" type="presOf" srcId="{EEE4F1BB-A826-4F6E-A9A5-1CD14FFFCD9A}" destId="{094CE4D5-9E06-F14F-9A8B-0E0313AA9A38}" srcOrd="0" destOrd="0" presId="urn:microsoft.com/office/officeart/2005/8/layout/vProcess5"/>
    <dgm:cxn modelId="{DD349F1C-79D7-4BA6-B706-37833341291A}" srcId="{40B285D7-C0B1-407F-8F61-5FEAAD2E8780}" destId="{4D0D2C4A-9C27-42DB-A757-D65600F5BAA1}" srcOrd="1" destOrd="0" parTransId="{B27FA013-5C03-47E5-998F-B7186B5AB9B6}" sibTransId="{EEE4F1BB-A826-4F6E-A9A5-1CD14FFFCD9A}"/>
    <dgm:cxn modelId="{ADF9042F-F14B-5942-BC49-60F4F5642162}" type="presOf" srcId="{061543A4-70AC-439A-8D13-B957194CA7D4}" destId="{87A0A550-0E5F-304C-84D8-20CCC50C3C09}" srcOrd="1" destOrd="0" presId="urn:microsoft.com/office/officeart/2005/8/layout/vProcess5"/>
    <dgm:cxn modelId="{69D04530-3CE1-FD44-A867-8FB07125B508}" type="presOf" srcId="{489D0285-54B0-4E93-83F5-9C9311B0588C}" destId="{7F5224B1-AF8F-7642-A4A1-D7D80044FFB4}" srcOrd="0" destOrd="0" presId="urn:microsoft.com/office/officeart/2005/8/layout/vProcess5"/>
    <dgm:cxn modelId="{3234503E-8548-BB4B-B166-FA77906EC828}" type="presOf" srcId="{061543A4-70AC-439A-8D13-B957194CA7D4}" destId="{9FDB8274-CC9F-864A-BFD8-8D870AA15E30}" srcOrd="0" destOrd="0" presId="urn:microsoft.com/office/officeart/2005/8/layout/vProcess5"/>
    <dgm:cxn modelId="{9C71566A-9B2E-4E04-A286-6088F11C093B}" srcId="{40B285D7-C0B1-407F-8F61-5FEAAD2E8780}" destId="{489D0285-54B0-4E93-83F5-9C9311B0588C}" srcOrd="0" destOrd="0" parTransId="{1DDF7462-FC4B-499B-A708-273481EC3718}" sibTransId="{C6B4946D-0134-4E90-8C77-14AF6C944722}"/>
    <dgm:cxn modelId="{1830417C-0E7D-2349-A80F-F0134F1F0C24}" type="presOf" srcId="{C6B4946D-0134-4E90-8C77-14AF6C944722}" destId="{31C827AA-2B5B-6D41-B2C0-E1A1DA5E6299}" srcOrd="0" destOrd="0" presId="urn:microsoft.com/office/officeart/2005/8/layout/vProcess5"/>
    <dgm:cxn modelId="{3F03B290-6235-3E45-932A-F04310C82C99}" type="presOf" srcId="{4D0D2C4A-9C27-42DB-A757-D65600F5BAA1}" destId="{525A40E5-AD70-EF4D-9FD9-147BEF46593C}" srcOrd="1" destOrd="0" presId="urn:microsoft.com/office/officeart/2005/8/layout/vProcess5"/>
    <dgm:cxn modelId="{6AF0E2A5-4CCF-4B90-A071-3F58BD50AC91}" srcId="{40B285D7-C0B1-407F-8F61-5FEAAD2E8780}" destId="{061543A4-70AC-439A-8D13-B957194CA7D4}" srcOrd="2" destOrd="0" parTransId="{9FC510D9-A536-4D74-8147-38B30C65E600}" sibTransId="{75C94986-8F49-4C8B-B551-3EBABFCB776C}"/>
    <dgm:cxn modelId="{E2E6CBAB-73A1-7945-8154-B11174702220}" type="presOf" srcId="{40B285D7-C0B1-407F-8F61-5FEAAD2E8780}" destId="{EF26C959-629B-9247-A5D0-94B0B3B517CC}" srcOrd="0" destOrd="0" presId="urn:microsoft.com/office/officeart/2005/8/layout/vProcess5"/>
    <dgm:cxn modelId="{271523BB-3F09-C84C-8047-6EBB3B241F0C}" type="presOf" srcId="{489D0285-54B0-4E93-83F5-9C9311B0588C}" destId="{A87418B1-127B-194F-A150-4794CAF3C4C5}" srcOrd="1" destOrd="0" presId="urn:microsoft.com/office/officeart/2005/8/layout/vProcess5"/>
    <dgm:cxn modelId="{706DA5DE-D457-2948-BFDC-FDC8671FCDBD}" type="presOf" srcId="{4D0D2C4A-9C27-42DB-A757-D65600F5BAA1}" destId="{C2B26C37-73AC-6149-A0B0-526F0DE35D68}" srcOrd="0" destOrd="0" presId="urn:microsoft.com/office/officeart/2005/8/layout/vProcess5"/>
    <dgm:cxn modelId="{474AED3B-330B-154B-A2F6-EB8E46BA4E56}" type="presParOf" srcId="{EF26C959-629B-9247-A5D0-94B0B3B517CC}" destId="{5CAF8B65-C5C7-294C-B23A-E03FC983B965}" srcOrd="0" destOrd="0" presId="urn:microsoft.com/office/officeart/2005/8/layout/vProcess5"/>
    <dgm:cxn modelId="{AAA856FD-6689-C043-BB93-4F29E5143B7D}" type="presParOf" srcId="{EF26C959-629B-9247-A5D0-94B0B3B517CC}" destId="{7F5224B1-AF8F-7642-A4A1-D7D80044FFB4}" srcOrd="1" destOrd="0" presId="urn:microsoft.com/office/officeart/2005/8/layout/vProcess5"/>
    <dgm:cxn modelId="{FDAEB9E0-C918-AD48-AB34-C569BBE5B897}" type="presParOf" srcId="{EF26C959-629B-9247-A5D0-94B0B3B517CC}" destId="{C2B26C37-73AC-6149-A0B0-526F0DE35D68}" srcOrd="2" destOrd="0" presId="urn:microsoft.com/office/officeart/2005/8/layout/vProcess5"/>
    <dgm:cxn modelId="{CB3685C2-6F73-364B-B442-72CFA78D7309}" type="presParOf" srcId="{EF26C959-629B-9247-A5D0-94B0B3B517CC}" destId="{9FDB8274-CC9F-864A-BFD8-8D870AA15E30}" srcOrd="3" destOrd="0" presId="urn:microsoft.com/office/officeart/2005/8/layout/vProcess5"/>
    <dgm:cxn modelId="{3BE0CAC5-2FAA-1D46-8D34-8F1BCBAE9B8E}" type="presParOf" srcId="{EF26C959-629B-9247-A5D0-94B0B3B517CC}" destId="{31C827AA-2B5B-6D41-B2C0-E1A1DA5E6299}" srcOrd="4" destOrd="0" presId="urn:microsoft.com/office/officeart/2005/8/layout/vProcess5"/>
    <dgm:cxn modelId="{AD94C334-2981-4349-9525-91CF9097C8B5}" type="presParOf" srcId="{EF26C959-629B-9247-A5D0-94B0B3B517CC}" destId="{094CE4D5-9E06-F14F-9A8B-0E0313AA9A38}" srcOrd="5" destOrd="0" presId="urn:microsoft.com/office/officeart/2005/8/layout/vProcess5"/>
    <dgm:cxn modelId="{AE4584AA-1040-2D43-8A1A-78985C38068B}" type="presParOf" srcId="{EF26C959-629B-9247-A5D0-94B0B3B517CC}" destId="{A87418B1-127B-194F-A150-4794CAF3C4C5}" srcOrd="6" destOrd="0" presId="urn:microsoft.com/office/officeart/2005/8/layout/vProcess5"/>
    <dgm:cxn modelId="{9669E211-6F7B-7A42-B757-E101E43CE44F}" type="presParOf" srcId="{EF26C959-629B-9247-A5D0-94B0B3B517CC}" destId="{525A40E5-AD70-EF4D-9FD9-147BEF46593C}" srcOrd="7" destOrd="0" presId="urn:microsoft.com/office/officeart/2005/8/layout/vProcess5"/>
    <dgm:cxn modelId="{E849BC1D-CB7C-F146-AA3C-14A4D56515ED}" type="presParOf" srcId="{EF26C959-629B-9247-A5D0-94B0B3B517CC}" destId="{87A0A550-0E5F-304C-84D8-20CCC50C3C0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224B1-AF8F-7642-A4A1-D7D80044FFB4}">
      <dsp:nvSpPr>
        <dsp:cNvPr id="0" name=""/>
        <dsp:cNvSpPr/>
      </dsp:nvSpPr>
      <dsp:spPr>
        <a:xfrm>
          <a:off x="0" y="0"/>
          <a:ext cx="3780948" cy="107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How do we study particles? </a:t>
          </a:r>
        </a:p>
      </dsp:txBody>
      <dsp:txXfrm>
        <a:off x="31469" y="31469"/>
        <a:ext cx="2621565" cy="1011482"/>
      </dsp:txXfrm>
    </dsp:sp>
    <dsp:sp modelId="{C2B26C37-73AC-6149-A0B0-526F0DE35D68}">
      <dsp:nvSpPr>
        <dsp:cNvPr id="0" name=""/>
        <dsp:cNvSpPr/>
      </dsp:nvSpPr>
      <dsp:spPr>
        <a:xfrm>
          <a:off x="333613" y="1253490"/>
          <a:ext cx="3780948" cy="107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One of the easiest ways to study a particle is to see how it moves in a magnetic or electric field</a:t>
          </a:r>
        </a:p>
      </dsp:txBody>
      <dsp:txXfrm>
        <a:off x="365082" y="1284959"/>
        <a:ext cx="2686024" cy="1011481"/>
      </dsp:txXfrm>
    </dsp:sp>
    <dsp:sp modelId="{9FDB8274-CC9F-864A-BFD8-8D870AA15E30}">
      <dsp:nvSpPr>
        <dsp:cNvPr id="0" name=""/>
        <dsp:cNvSpPr/>
      </dsp:nvSpPr>
      <dsp:spPr>
        <a:xfrm>
          <a:off x="667226" y="2506980"/>
          <a:ext cx="3780948" cy="107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 can use coils to create a uniform field -&gt; Helmholtz configuration </a:t>
          </a:r>
        </a:p>
      </dsp:txBody>
      <dsp:txXfrm>
        <a:off x="698695" y="2538449"/>
        <a:ext cx="2686024" cy="1011482"/>
      </dsp:txXfrm>
    </dsp:sp>
    <dsp:sp modelId="{31C827AA-2B5B-6D41-B2C0-E1A1DA5E6299}">
      <dsp:nvSpPr>
        <dsp:cNvPr id="0" name=""/>
        <dsp:cNvSpPr/>
      </dsp:nvSpPr>
      <dsp:spPr>
        <a:xfrm>
          <a:off x="3082575" y="814768"/>
          <a:ext cx="698372" cy="69837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239709" y="814768"/>
        <a:ext cx="384104" cy="525525"/>
      </dsp:txXfrm>
    </dsp:sp>
    <dsp:sp modelId="{094CE4D5-9E06-F14F-9A8B-0E0313AA9A38}">
      <dsp:nvSpPr>
        <dsp:cNvPr id="0" name=""/>
        <dsp:cNvSpPr/>
      </dsp:nvSpPr>
      <dsp:spPr>
        <a:xfrm>
          <a:off x="3416188" y="2061095"/>
          <a:ext cx="698372" cy="69837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573322" y="2061095"/>
        <a:ext cx="384104" cy="525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C7B18-C519-40FA-9619-AE9BEC871CC9}" type="datetimeFigureOut"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FC4C1-ADA5-40D7-B7D6-32CBF3FE18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Helmholtz configuration is </a:t>
            </a:r>
            <a:r>
              <a:rPr lang="en-US" dirty="0">
                <a:effectLst/>
              </a:rPr>
              <a:t>an arrangement of two identical circular, co-axial coils, spaced apart by a distance equal to their radius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FC4C1-ADA5-40D7-B7D6-32CBF3FE18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16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07E39B8-A7CB-4B82-AC0C-44B99F546761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040093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3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3CD641-6C35-45D1-9313-2719E9EA8AD8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15759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9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93552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81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50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6932DF-953D-44BD-83F8-5D8DA76EA12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558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2F326D-65F4-4B2F-9A62-9E4BD9402C47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006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61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5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E4DE196-8A13-4FF7-A07E-102851959EA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596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B73C468-D875-4A8E-A540-E43BF8232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11885" y="634028"/>
            <a:ext cx="4798243" cy="3732835"/>
          </a:xfrm>
        </p:spPr>
        <p:txBody>
          <a:bodyPr>
            <a:normAutofit/>
          </a:bodyPr>
          <a:lstStyle/>
          <a:p>
            <a:r>
              <a:rPr lang="en-US" noProof="0"/>
              <a:t>Particle Physics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711885" y="4436462"/>
            <a:ext cx="4798243" cy="1794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Mass-charge ratio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4734F2F-19FC-4D35-9BDE-5CEAD57D9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27878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D97A8A26-FD96-4968-A34A-727382AC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30AD2DB5-24B2-84BC-B66F-97EE98386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2FEF-4551-6F67-F62A-B750B653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14114"/>
            <a:ext cx="9601200" cy="1485900"/>
          </a:xfrm>
        </p:spPr>
        <p:txBody>
          <a:bodyPr anchor="b">
            <a:normAutofit/>
          </a:bodyPr>
          <a:lstStyle/>
          <a:p>
            <a:r>
              <a:rPr lang="en-US" dirty="0"/>
              <a:t>Particle Physics</a:t>
            </a:r>
          </a:p>
        </p:txBody>
      </p:sp>
      <p:graphicFrame>
        <p:nvGraphicFramePr>
          <p:cNvPr id="1030" name="Content Placeholder 2">
            <a:extLst>
              <a:ext uri="{FF2B5EF4-FFF2-40B4-BE49-F238E27FC236}">
                <a16:creationId xmlns:a16="http://schemas.microsoft.com/office/drawing/2014/main" id="{07EE6C8A-2C68-D8C8-1F47-53493E9195E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96283045"/>
              </p:ext>
            </p:extLst>
          </p:nvPr>
        </p:nvGraphicFramePr>
        <p:xfrm>
          <a:off x="1371600" y="2286000"/>
          <a:ext cx="4448175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453B2-60C0-E6A3-0BED-BF5765AB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EF8A-12B7-7677-A0A0-A5C53E56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7" name="Picture 4" descr="Helmholtz Coil">
            <a:extLst>
              <a:ext uri="{FF2B5EF4-FFF2-40B4-BE49-F238E27FC236}">
                <a16:creationId xmlns:a16="http://schemas.microsoft.com/office/drawing/2014/main" id="{4005235E-831F-445D-87D8-E7762CA26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416" y="1907426"/>
            <a:ext cx="3613984" cy="43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36EDB-45DD-49C2-8B88-E8FEAFE0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51"/>
            <a:ext cx="10515600" cy="823595"/>
          </a:xfrm>
        </p:spPr>
        <p:txBody>
          <a:bodyPr/>
          <a:lstStyle/>
          <a:p>
            <a:r>
              <a:rPr lang="en-US" dirty="0"/>
              <a:t>Derivation of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472281-6CBB-4BBD-9720-2C2AEBA53D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9446"/>
                <a:ext cx="4026031" cy="56056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Energy for a particle in a potential difference: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472281-6CBB-4BBD-9720-2C2AEBA53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9446"/>
                <a:ext cx="4026031" cy="5605621"/>
              </a:xfrm>
              <a:blipFill>
                <a:blip r:embed="rId2"/>
                <a:stretch>
                  <a:fillRect l="-3182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A332D3-E214-45F4-9C92-5E9E1464FCE1}"/>
                  </a:ext>
                </a:extLst>
              </p:cNvPr>
              <p:cNvSpPr txBox="1"/>
              <p:nvPr/>
            </p:nvSpPr>
            <p:spPr>
              <a:xfrm>
                <a:off x="3252248" y="5867665"/>
                <a:ext cx="6096000" cy="924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125 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32 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A332D3-E214-45F4-9C92-5E9E1464F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248" y="5867665"/>
                <a:ext cx="6096000" cy="9244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8B087FB-4AFE-40E4-860F-7A1FABB90ADE}"/>
              </a:ext>
            </a:extLst>
          </p:cNvPr>
          <p:cNvSpPr/>
          <p:nvPr/>
        </p:nvSpPr>
        <p:spPr>
          <a:xfrm>
            <a:off x="4455736" y="5867665"/>
            <a:ext cx="3280528" cy="924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BA1094F9-4C37-4F80-B25B-CBAFEC4089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27769" y="889446"/>
                <a:ext cx="4026031" cy="56056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Force on a moving particle in a magnetic field: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𝑞𝑣𝐵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𝑟𝐵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BA1094F9-4C37-4F80-B25B-CBAFEC408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769" y="889446"/>
                <a:ext cx="4026031" cy="5605621"/>
              </a:xfrm>
              <a:prstGeom prst="rect">
                <a:avLst/>
              </a:prstGeom>
              <a:blipFill>
                <a:blip r:embed="rId4"/>
                <a:stretch>
                  <a:fillRect l="-3026" t="-1850" r="-4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8B6401F4-281C-4D70-8864-9B396D0642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2984" y="2888063"/>
                <a:ext cx="4026031" cy="56056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Combining the two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𝑞𝑟𝐵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8B6401F4-281C-4D70-8864-9B396D064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984" y="2888063"/>
                <a:ext cx="4026031" cy="5605621"/>
              </a:xfrm>
              <a:prstGeom prst="rect">
                <a:avLst/>
              </a:prstGeom>
              <a:blipFill>
                <a:blip r:embed="rId5"/>
                <a:stretch>
                  <a:fillRect l="-3182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AA9611D2-6C9E-4C1D-B541-694FCA50C1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2250" y="4738636"/>
                <a:ext cx="3536685" cy="10492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Helmholtz configuration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AA9611D2-6C9E-4C1D-B541-694FCA50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50" y="4738636"/>
                <a:ext cx="3536685" cy="1049216"/>
              </a:xfrm>
              <a:prstGeom prst="rect">
                <a:avLst/>
              </a:prstGeom>
              <a:blipFill>
                <a:blip r:embed="rId6"/>
                <a:stretch>
                  <a:fillRect l="-2500" t="-13095" r="-107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6900FF-A8B6-4608-90AB-A602A92EDA1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3944982" y="4894217"/>
            <a:ext cx="1005840" cy="44256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65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36EDB-45DD-49C2-8B88-E8FEAFE0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2084"/>
            <a:ext cx="10515600" cy="823595"/>
          </a:xfrm>
        </p:spPr>
        <p:txBody>
          <a:bodyPr/>
          <a:lstStyle/>
          <a:p>
            <a:r>
              <a:rPr lang="en-US" dirty="0"/>
              <a:t>Particle Physics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AB7FB6B-B27F-9B87-3DE4-68932EB8F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Seeing how a particle moves in a magnetic field using a Helmholtz configuration (to create a uniform field) allows us to find the charge-to-mass ratio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AB7FB6B-B27F-9B87-3DE4-68932EB8F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1" t="-1413" r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CBD233-734D-1A7F-E0ED-0C70AC3E6926}"/>
                  </a:ext>
                </a:extLst>
              </p:cNvPr>
              <p:cNvSpPr txBox="1"/>
              <p:nvPr/>
            </p:nvSpPr>
            <p:spPr>
              <a:xfrm>
                <a:off x="3124200" y="3429000"/>
                <a:ext cx="6096000" cy="924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125 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32 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CBD233-734D-1A7F-E0ED-0C70AC3E6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3429000"/>
                <a:ext cx="6096000" cy="924484"/>
              </a:xfrm>
              <a:prstGeom prst="rect">
                <a:avLst/>
              </a:prstGeom>
              <a:blipFill>
                <a:blip r:embed="rId3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31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08EA-773B-4390-B7F7-E03158D6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923" y="493670"/>
            <a:ext cx="10515600" cy="785495"/>
          </a:xfrm>
        </p:spPr>
        <p:txBody>
          <a:bodyPr/>
          <a:lstStyle/>
          <a:p>
            <a:r>
              <a:rPr lang="en-US" dirty="0"/>
              <a:t>Lab 7 Part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13">
                <a:extLst>
                  <a:ext uri="{FF2B5EF4-FFF2-40B4-BE49-F238E27FC236}">
                    <a16:creationId xmlns:a16="http://schemas.microsoft.com/office/drawing/2014/main" id="{F7A5B830-6134-4A14-A825-AB7FBB6057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0923" y="1279164"/>
                <a:ext cx="10335883" cy="5085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Part 1: Testing the model</a:t>
                </a:r>
              </a:p>
              <a:p>
                <a:pPr lvl="1"/>
                <a:r>
                  <a:rPr lang="en-US" dirty="0"/>
                  <a:t>Using the charge-to-mass ratio apparatus, take a variety of values for 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125 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32 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Fit and determine if the model works, using Lab 5 </a:t>
                </a:r>
                <a:r>
                  <a:rPr lang="en-US" dirty="0" err="1"/>
                  <a:t>χ</a:t>
                </a:r>
                <a:r>
                  <a:rPr lang="en-US" dirty="0"/>
                  <a:t>-test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Report the magnitude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and its uncertainty using</a:t>
                </a:r>
              </a:p>
              <a:p>
                <a:pPr marL="457200" lvl="1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ra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Calculate a t-score between your slope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and the closest manual value.</a:t>
                </a:r>
              </a:p>
              <a:p>
                <a:pPr lvl="1"/>
                <a:r>
                  <a:rPr lang="en-US" dirty="0"/>
                  <a:t>Determine the sign of the charge with the right hand rule. What particle is in the device?</a:t>
                </a:r>
              </a:p>
              <a:p>
                <a:pPr lvl="1"/>
                <a:r>
                  <a:rPr lang="en-US" dirty="0"/>
                  <a:t>Post your results on the board</a:t>
                </a:r>
              </a:p>
            </p:txBody>
          </p:sp>
        </mc:Choice>
        <mc:Fallback>
          <p:sp>
            <p:nvSpPr>
              <p:cNvPr id="4" name="Content Placeholder 13">
                <a:extLst>
                  <a:ext uri="{FF2B5EF4-FFF2-40B4-BE49-F238E27FC236}">
                    <a16:creationId xmlns:a16="http://schemas.microsoft.com/office/drawing/2014/main" id="{F7A5B830-6134-4A14-A825-AB7FBB605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23" y="1279164"/>
                <a:ext cx="10335883" cy="5085165"/>
              </a:xfrm>
              <a:prstGeom prst="rect">
                <a:avLst/>
              </a:prstGeom>
              <a:blipFill>
                <a:blip r:embed="rId2"/>
                <a:stretch>
                  <a:fillRect l="-859" t="-1741" r="-859"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89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8ADA-D89E-A1C1-F184-408C5584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7 -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2D8C-41BF-8ED2-F971-0A64153D5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  <a:p>
            <a:pPr lvl="1"/>
            <a:r>
              <a:rPr lang="en-US" dirty="0"/>
              <a:t>Fragile apparatus: be careful taking the cover off and putting it back on</a:t>
            </a:r>
          </a:p>
          <a:p>
            <a:pPr lvl="1"/>
            <a:r>
              <a:rPr lang="en-US" dirty="0"/>
              <a:t>No drinks on the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5127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299</Words>
  <Application>Microsoft Macintosh PowerPoint</Application>
  <PresentationFormat>Widescreen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Franklin Gothic Book</vt:lpstr>
      <vt:lpstr>Georgia</vt:lpstr>
      <vt:lpstr>Crop</vt:lpstr>
      <vt:lpstr>Particle Physics</vt:lpstr>
      <vt:lpstr>Particle Physics</vt:lpstr>
      <vt:lpstr>Derivation of equations</vt:lpstr>
      <vt:lpstr>Particle Physics</vt:lpstr>
      <vt:lpstr>Lab 7 Part 1</vt:lpstr>
      <vt:lpstr>Lab 7 - Safety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Soria, Ariana E</cp:lastModifiedBy>
  <cp:revision>116</cp:revision>
  <dcterms:created xsi:type="dcterms:W3CDTF">2024-11-05T14:17:33Z</dcterms:created>
  <dcterms:modified xsi:type="dcterms:W3CDTF">2025-10-30T17:47:11Z</dcterms:modified>
</cp:coreProperties>
</file>